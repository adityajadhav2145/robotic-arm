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36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77B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77B6"/>
                </a:solidFill>
                <a:latin typeface="Arial"/>
              </a:rPr>
              <a:t>Mass by Segment (g)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Mass (g)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9D-43E0-92A2-11D227AD59E4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9D-43E0-92A2-11D227AD59E4}"/>
              </c:ext>
            </c:extLst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9D-43E0-92A2-11D227AD59E4}"/>
              </c:ext>
            </c:extLst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9D-43E0-92A2-11D227AD59E4}"/>
              </c:ext>
            </c:extLst>
          </c:dPt>
          <c:dPt>
            <c:idx val="4"/>
            <c:invertIfNegative val="0"/>
            <c:bubble3D val="0"/>
            <c:spPr>
              <a:solidFill>
                <a:srgbClr val="90A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9D-43E0-92A2-11D227AD59E4}"/>
              </c:ext>
            </c:extLst>
          </c:dPt>
          <c:dPt>
            <c:idx val="5"/>
            <c:invertIfNegative val="0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A9D-43E0-92A2-11D227AD59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</c:v>
                </c:pt>
                <c:pt idx="1">
                  <c:v>Link 1</c:v>
                </c:pt>
                <c:pt idx="2">
                  <c:v>Link 2</c:v>
                </c:pt>
                <c:pt idx="3">
                  <c:v>Link 3</c:v>
                </c:pt>
                <c:pt idx="4">
                  <c:v>Gripper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359.11</c:v>
                </c:pt>
                <c:pt idx="1">
                  <c:v>187.62</c:v>
                </c:pt>
                <c:pt idx="2">
                  <c:v>94.35</c:v>
                </c:pt>
                <c:pt idx="3">
                  <c:v>172.39</c:v>
                </c:pt>
                <c:pt idx="4">
                  <c:v>131.77000000000001</c:v>
                </c:pt>
                <c:pt idx="5">
                  <c:v>99.15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A9D-43E0-92A2-11D227AD59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74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chart" Target="../charts/chart1.xml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"/>
            <a:ext cx="45720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31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5-DOF Articulated Robotic Arm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34747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1044 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0312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DOF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10312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MG995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5760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Motors × 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03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03120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Material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 |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 for robotic arms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73352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733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addressed by Tanni Bot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78024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7802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825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success criteria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82696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8269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electronics &amp; software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87368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87368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873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CAD &amp; 3D-printed assembly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868680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868680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6752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simulation results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1673352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1673352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6733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67528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&amp; Payload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67528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torque calculations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2478024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2478024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47802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67528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67528" y="2825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control system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282696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282696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28269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6752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67528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physical results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4087368"/>
            <a:ext cx="41148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4087368"/>
            <a:ext cx="5029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0873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67528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6752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Robotic Arms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576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Robotic Arm?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mechanical manipulator mimicking human arm motion, capable of precise positioning in 3D space through multiple joints.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Articulated?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Articulated arms with revolute joints offer maximum flexibility and workspace coverage, essential for pick-and-place, welding, and assembly.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576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Degrees of Freedom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DOF adds an independent axis of motion — enabling complex trajectories and orientations unreachable by simpler designs.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6576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Tanni Bot is a 3D-printed, servo-driven robotic arm designed and simulated entirely in SolidWorks, then validated through FEA.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5760"/>
            <a:ext cx="3840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design and fabricate a low-cost, multi-DOF articulated robotic arm using 3D printing and off-the-shelf servo motors, validated through FEA and kinematic analysis?"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39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High Cost of Commercial Arms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arms cost ₹5–50 lakhs. Existing low-cost options lack rigidity and precision for education/research use.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039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Structural Integrity Under 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3D-printed materials must withstand servo torques and payload without deformation or failure.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Complex Multi-Joint Coordination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5 DOF with limited servo torque requires careful kinematic planning and torque-chain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337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Geometric &amp; Mass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CAD-to-print accuracy must be validated; mass and inertia properties need verification for dynamic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8412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5-DOF articulated robotic arm in SolidWorks with full assembly, mate constraints, and mass properties verification.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2128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appropriate MG995 servo motors based on torque requirements computed via static load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66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3584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 structural links in PUR (Polyurethane) material and validate dimensional accuracy against CAD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822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21808" y="8412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FEA (Finite Element Analysis) on critical links using SolidWorks Simulation to verify stress within limits.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2128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Arduino UNO-based control system for coordinated multi-joint actuation via servo PWM signals.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566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3584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payload capacity, joint torques, and safety factors across all operating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COMPONENTS USED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(ATmega328P)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PWM output pins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3.3V regulated supply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2296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MG995 Metal Gear Servo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torque: 13 kg·cm @ 6V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voltage: 4.8–7.2V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2344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PUR links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(LINK 1)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steel fasteners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 16-ch Servo Driver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 / 5A DC Power Supply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 &amp; breadboard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2024/2025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Simulation (FEA)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834640"/>
            <a:ext cx="27432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I/O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knobs (manual)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for Arduino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feedback (optional)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MECHANICAL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CAD — Full Assembly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"/>
            <a:ext cx="4206240" cy="4389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011680"/>
            <a:ext cx="438912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804672"/>
            <a:ext cx="4206240" cy="11155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868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Mass: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743200" y="868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1044.39 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1069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0" y="1069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1,044,311 mm³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1271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0" y="12710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398,771 mm²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1472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(X,Y,Z):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43200" y="14721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525, 802, 1354 mm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1673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1673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(6 servos)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82880" y="4800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Mesh Quality View (SolidWorks Simulation)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MECHANICAL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Segment Mass Breakdown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029200" cy="292608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0" y="82296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Assembly: 1044.39 g  |  10.245 N  |  90.5% of mass accounted by photographed segments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297680"/>
            <a:ext cx="1554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Assembly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359.11 g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297680"/>
            <a:ext cx="1554480" cy="59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11680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187.62 g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4297680"/>
            <a:ext cx="1554480" cy="59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749040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94.35 g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297680"/>
            <a:ext cx="1554480" cy="5943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86400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172.39 g</a:t>
            </a:r>
            <a:endParaRPr lang="en-US" sz="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4297680"/>
            <a:ext cx="1554480" cy="5943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223760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131.77 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FEA STRUCTURAL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— Link 3 (PUR Material)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114800" cy="3200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04672"/>
            <a:ext cx="4297680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160520"/>
            <a:ext cx="274320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PUR (Polyurethane)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4160520"/>
            <a:ext cx="274320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3756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Applied: 2.45 N per item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4160520"/>
            <a:ext cx="274320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636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von Mises: 0.1065 MPa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4663440"/>
            <a:ext cx="274320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663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von Mises: 8.26×10⁻⁶ MPa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0" y="4663440"/>
            <a:ext cx="274320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7560" y="4663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Well within yield limit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 Scale: 1,130.93 — Stress distribution is predominantly low (blue), confirming design safety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FEA STRUCTURAL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— Link 1 (Acrylic Material)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2834640" cy="4114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22960"/>
            <a:ext cx="2834640" cy="41148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822960"/>
            <a:ext cx="2834640" cy="4114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2880" y="4983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Mises Stress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nodal)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200400" y="4983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of Safety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FOS = 260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217920" y="4983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URES (mm)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182880" y="4572000"/>
            <a:ext cx="87782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2.54 N  |  Material: Acrylic (Medium Impact)  |  Yield Strength: 45 MPa  |  Max Stress: 0.176 MPa  |  Min FOS: 260  |  Status: SAFE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FEA STRUCTURAL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— Link 3_3 Shell Analysis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result view: Von Mises Stress | Equivalent Strain | Resultant Displacement | Mesh Quality — All results indicate negligible deformation (sub-micron range)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TORQUE &amp; PAYLOAD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Torque &amp; Payload Capacity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4206240" cy="2286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04672"/>
            <a:ext cx="4389120" cy="42519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46120"/>
          <a:ext cx="420624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Joint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Self-Torque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Allowable (SF=1.5)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Payload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J1 Shoulder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620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700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</a:rPr>
                        <a:t>48 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J2 Elbow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620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700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</a:rPr>
                        <a:t>55 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J3 Wrist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207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700 N·mm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600 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82880" y="4919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Governing constraint: J1 Shoulder &amp; J2 Elbow limit payload to ~48 g at full horizontal reach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CIRCUIT DIAGRAM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Control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371600"/>
            <a:ext cx="2194560" cy="2560320"/>
          </a:xfrm>
          <a:prstGeom prst="rect">
            <a:avLst/>
          </a:prstGeom>
          <a:solidFill>
            <a:srgbClr val="1565C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965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77640" y="2075688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77640" y="2331720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4780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77640" y="2587752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77640" y="2843784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990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3099816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246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77640" y="3355848"/>
            <a:ext cx="1371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371600"/>
            <a:ext cx="1463040" cy="1097280"/>
          </a:xfrm>
          <a:prstGeom prst="rect">
            <a:avLst/>
          </a:prstGeom>
          <a:solidFill>
            <a:srgbClr val="2E7D3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16-ch I2C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Driver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874520"/>
            <a:ext cx="0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(SDA/SCL)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1645920"/>
            <a:ext cx="1463040" cy="914400"/>
          </a:xfrm>
          <a:prstGeom prst="rect">
            <a:avLst/>
          </a:prstGeom>
          <a:solidFill>
            <a:srgbClr val="B71C1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 / 5A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Power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0" y="2103120"/>
            <a:ext cx="16459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1920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GND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Yaw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54480" y="3493008"/>
            <a:ext cx="19202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84048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54480" y="4041648"/>
            <a:ext cx="19202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8912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89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554480" y="4590288"/>
            <a:ext cx="19202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29184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Pitch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32320" y="3493008"/>
            <a:ext cx="64008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384048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Roll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32320" y="4041648"/>
            <a:ext cx="64008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4389120"/>
            <a:ext cx="12801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4389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32320" y="4590288"/>
            <a:ext cx="64008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0" y="2560320"/>
            <a:ext cx="1005840" cy="2377440"/>
          </a:xfrm>
          <a:prstGeom prst="rect">
            <a:avLst/>
          </a:prstGeom>
          <a:solidFill>
            <a:srgbClr val="4A148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560320"/>
            <a:ext cx="100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MG995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0" y="3749040"/>
            <a:ext cx="0" cy="0"/>
          </a:xfrm>
          <a:prstGeom prst="line">
            <a:avLst/>
          </a:prstGeom>
          <a:noFill/>
          <a:ln w="19050">
            <a:solidFill>
              <a:srgbClr val="FFEB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0" y="3657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Serial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3657600"/>
            <a:ext cx="1097280" cy="320040"/>
          </a:xfrm>
          <a:prstGeom prst="rect">
            <a:avLst/>
          </a:prstGeom>
          <a:solidFill>
            <a:srgbClr val="1A2E42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Serial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flow: PC → Arduino UNO → PCA9685 (I2C) → MG995 Servos (PWM)  |  Power: 6V @ 5A → Servos &amp; Driver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OUTPUT &amp;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Physical Results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2926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804672"/>
            <a:ext cx="3566160" cy="13716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286000"/>
            <a:ext cx="3566160" cy="14630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8595360" cy="1143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Max Stress (Link 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0.176 MPa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Yield: 45 MPa — SAFE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Min FOS (Link 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260×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Far above SF=1.5 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Max Stress (Link 3)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0.107 MPa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PUR well within limits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Link 3_3 Displacement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&lt;1 μm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Negligible deformation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Total Assembly Mass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1044.39 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SolidWorks verified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Governing Payload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</a:rPr>
                        <a:t>~48 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Limited by J1/J2 torque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Pick-and-place in assembly lines, repetitive material handling, conveyor sorting.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14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kinematics, robotics programming, and FEA validation in academic labs.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14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Rehabilitative therapy arms, surgical assistance, pharmaceutical pick-and-place.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Tele-operation in hazardous environments (nuclear, chemical, deep sea).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Robotics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7673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Human-robot collaboration on light assembly tasks and service counters.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88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26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673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platform for testing gripper designs, sensors, and control algorithms.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457200"/>
            <a:ext cx="384048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TANNI BOT — 5-DOF Articulated Robotic Arm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97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DOF  |  6× MG995 Servo Motors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081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Mass: 1044.39 g  |  Verified by SolidWorks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4655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FEA: Min FOS = 260  |  Stress well within limits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8496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Arduino UNO + PCA9685 control system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33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3D printed PUR &amp; Acrylic structural links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 |  2025–26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On-screen Show (16:9)</PresentationFormat>
  <Paragraphs>270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Tanni Bot — 5-DOF Articulated Robotic Arm</dc:title>
  <dc:subject>PptxGenJS Presentation</dc:subject>
  <dc:creator>PptxGenJS</dc:creator>
  <cp:lastModifiedBy>Admin</cp:lastModifiedBy>
  <cp:revision>2</cp:revision>
  <dcterms:created xsi:type="dcterms:W3CDTF">2026-04-29T07:30:16Z</dcterms:created>
  <dcterms:modified xsi:type="dcterms:W3CDTF">2026-06-23T09:23:46Z</dcterms:modified>
</cp:coreProperties>
</file>